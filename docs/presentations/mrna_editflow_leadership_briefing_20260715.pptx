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T5 proxy gain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Δoracle TE (pp)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head256 Pareto</c:v>
                </c:pt>
                <c:pt idx="1">
                  <c:v>head1024 TE-only</c:v>
                </c:pt>
                <c:pt idx="2">
                  <c:v>head1024 scalar</c:v>
                </c:pt>
                <c:pt idx="3">
                  <c:v>head1024 Pareto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1.028511662243765</c:v>
                </c:pt>
                <c:pt idx="1">
                  <c:v>0.8464839516141364</c:v>
                </c:pt>
                <c:pt idx="2">
                  <c:v>0.8548826444283832</c:v>
                </c:pt>
                <c:pt idx="3">
                  <c:v>0.9272763155919658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T6 length-control result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Δoracle TE (pp)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head256 len-30</c:v>
                </c:pt>
                <c:pt idx="1">
                  <c:v>head1024 len-30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0.5003654816411649</c:v>
                </c:pt>
                <c:pt idx="1">
                  <c:v>0.6491159691147568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edit distance /100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head256 len-30</c:v>
                </c:pt>
                <c:pt idx="1">
                  <c:v>head1024 len-30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0.296484375</c:v>
                </c:pt>
                <c:pt idx="1">
                  <c:v>0.294794921875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/>
            </a:pPr>
            <a:r>
              <a:t>T7 motif editing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success %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insert</c:v>
                </c:pt>
                <c:pt idx="1">
                  <c:v>excise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99.3359375</c:v>
                </c:pt>
                <c:pt idx="1">
                  <c:v>99.3359375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frame intact %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insert</c:v>
                </c:pt>
                <c:pt idx="1">
                  <c:v>excise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100.0</c:v>
                </c:pt>
                <c:pt idx="1">
                  <c:v>100.0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protein identity %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insert</c:v>
                </c:pt>
                <c:pt idx="1">
                  <c:v>excise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100.0</c:v>
                </c:pt>
                <c:pt idx="1">
                  <c:v>100.0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5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52D55"/>
                </a:solidFill>
              </a:defRPr>
            </a:pPr>
            <a:r>
              <a:t>mRNA-EditFlow 项目领导汇报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2331720"/>
            <a:ext cx="98755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07080"/>
                </a:solidFill>
              </a:defRPr>
            </a:pPr>
            <a:r>
              <a:t>全长 mRNA 受约束编辑生成：数据、算法、模型架构、评测结果与未来规划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337560"/>
            <a:ext cx="3337560" cy="123444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3337560"/>
            <a:ext cx="73152" cy="1234440"/>
          </a:xfrm>
          <a:prstGeom prst="rect">
            <a:avLst/>
          </a:prstGeom>
          <a:solidFill>
            <a:srgbClr val="246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344728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52D55"/>
                </a:solidFill>
              </a:defRPr>
            </a:pPr>
            <a:r>
              <a:t>全长区域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3840480"/>
            <a:ext cx="30815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212529"/>
                </a:solidFill>
              </a:defRPr>
            </a:pPr>
            <a:r>
              <a:t>5'UTR + CDS + 3'UTR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26280" y="3337560"/>
            <a:ext cx="3337560" cy="123444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26280" y="3337560"/>
            <a:ext cx="73152" cy="1234440"/>
          </a:xfrm>
          <a:prstGeom prst="rect">
            <a:avLst/>
          </a:prstGeom>
          <a:solidFill>
            <a:srgbClr val="1A8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72584" y="344728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52D55"/>
                </a:solidFill>
              </a:defRPr>
            </a:pPr>
            <a:r>
              <a:t>硬约束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72584" y="3840480"/>
            <a:ext cx="30815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212529"/>
                </a:solidFill>
              </a:defRPr>
            </a:pPr>
            <a:r>
              <a:t>CDS frame / protein identity = 1.0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337560"/>
            <a:ext cx="3337560" cy="123444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29600" y="3337560"/>
            <a:ext cx="73152" cy="123444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3447288"/>
            <a:ext cx="3108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52D55"/>
                </a:solidFill>
              </a:defRPr>
            </a:pPr>
            <a:r>
              <a:t>核心任务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3840480"/>
            <a:ext cx="3081528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300">
                <a:solidFill>
                  <a:srgbClr val="212529"/>
                </a:solidFill>
              </a:defRPr>
            </a:pPr>
            <a:r>
              <a:t>full-length constrained edit + ranking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172200"/>
            <a:ext cx="10789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07080"/>
                </a:solidFill>
              </a:defRPr>
            </a:pPr>
            <a:r>
              <a:t>汇报版本：2026-07-15；数据来自 README、docs、benchmark artifacts；所有 proxy/烟测结果均按证据边界标注。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96BE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2D55"/>
                </a:solidFill>
              </a:defRPr>
            </a:pPr>
            <a:r>
              <a:t>1. 高层摘要：项目价值与当前判断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080"/>
                </a:solidFill>
              </a:defRPr>
            </a:pPr>
            <a:r>
              <a:t>一句话：把 mRNA 设计从“单点优化”升级为“全长、可约束、可审计的编辑生成系统”。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28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7080"/>
                </a:solidFill>
              </a:defRPr>
            </a:pPr>
            <a:r>
              <a:t>mRNA-EditFlow | leadership briefing | 2026-07-15 |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173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</a:defRPr>
            </a:pPr>
            <a:r>
              <a:t>项目目标：联合编辑 5'UTR、CDS、3'UTR，同时保持 CDS reading frame 与蛋白身份，提升翻译/稳定性相关 proxy。</a:t>
            </a:r>
          </a:p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</a:defRPr>
            </a:pPr>
            <a:r>
              <a:t>核心差异：不是 CDS-only codon optimizer，也不是 5'UTR-only generator；采用 region-conditioned continuous-time edit process。</a:t>
            </a:r>
          </a:p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</a:defRPr>
            </a:pPr>
            <a:r>
              <a:t>当前最佳 T5 head1024 Pareto：Δoracle TE=+0.93 pp，protein identity=100.00%，legal=100.00%。</a:t>
            </a:r>
          </a:p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</a:defRPr>
            </a:pPr>
            <a:r>
              <a:t>T4 CDS DP：protein identity=100.00%；CAI +0.027；GC +0.006。</a:t>
            </a:r>
          </a:p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</a:defRPr>
            </a:pPr>
            <a:r>
              <a:t>T7 motif edit：insert/excise success≈99.34%/99.34%；frame intact=100.00%。</a:t>
            </a:r>
          </a:p>
          <a:p>
            <a:pPr>
              <a:spcAft>
                <a:spcPts val="500"/>
              </a:spcAft>
              <a:defRPr sz="1500">
                <a:solidFill>
                  <a:srgbClr val="212529"/>
                </a:solidFill>
              </a:defRPr>
            </a:pPr>
            <a:r>
              <a:t>当前结论：工程闭环和 proxy 证据已较完整；真实 TE/stability wet-lab 或外部 SOTA 还不能声称，需补外部数据与 10-seed 统计。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96BE"/>
                </a:solidFill>
              </a:defRPr>
            </a:pPr>
            <a: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2D55"/>
                </a:solidFill>
              </a:defRPr>
            </a:pPr>
            <a:r>
              <a:t>2. 项目背景：mRNA 药物设计的核心矛盾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080"/>
                </a:solidFill>
              </a:defRPr>
            </a:pPr>
            <a:r>
              <a:t>全长 mRNA 设计同时受到表达效率、稳定性、免疫原性、可制造性与蛋白保真约束。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28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7080"/>
                </a:solidFill>
              </a:defRPr>
            </a:pPr>
            <a:r>
              <a:t>mRNA-EditFlow | leadership briefing | 2026-07-15 |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63040"/>
            <a:ext cx="3474720" cy="141732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1463040"/>
            <a:ext cx="73152" cy="1417320"/>
          </a:xfrm>
          <a:prstGeom prst="rect">
            <a:avLst/>
          </a:prstGeom>
          <a:solidFill>
            <a:srgbClr val="E8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572768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D55"/>
                </a:solidFill>
              </a:defRPr>
            </a:pPr>
            <a:r>
              <a:t>业务/科研痛点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965960"/>
            <a:ext cx="32186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12529"/>
                </a:solidFill>
              </a:defRPr>
            </a:pPr>
            <a:r>
              <a:t>mRNA 序列设计需要在 TE、稳定性、GC、CAI、motif、安全性之间权衡；单目标优化容易牺牲其它属性。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63040"/>
            <a:ext cx="3474720" cy="141732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63040"/>
            <a:ext cx="73152" cy="1417320"/>
          </a:xfrm>
          <a:prstGeom prst="rect">
            <a:avLst/>
          </a:prstGeom>
          <a:solidFill>
            <a:srgbClr val="246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572768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D55"/>
                </a:solidFill>
              </a:defRPr>
            </a:pPr>
            <a:r>
              <a:t>已有方法局限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1965960"/>
            <a:ext cx="32186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12529"/>
                </a:solidFill>
              </a:defRPr>
            </a:pPr>
            <a:r>
              <a:t>LinearDesign/EnsembleDesign 偏 CDS 结构和 codon；UTailoR 偏 5'UTR；mRNA-LM/Helix-mRNA 偏表征；GEMORNA/mRNA-GPT/ProMORNA 更接近全长。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63040"/>
            <a:ext cx="3474720" cy="141732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463040"/>
            <a:ext cx="73152" cy="1417320"/>
          </a:xfrm>
          <a:prstGeom prst="rect">
            <a:avLst/>
          </a:prstGeom>
          <a:solidFill>
            <a:srgbClr val="1A8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572768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D55"/>
                </a:solidFill>
              </a:defRPr>
            </a:pPr>
            <a:r>
              <a:t>本项目机会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1965960"/>
            <a:ext cx="321868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12529"/>
                </a:solidFill>
              </a:defRPr>
            </a:pPr>
            <a:r>
              <a:t>以编辑流方式从天然模板出发，显式控制区域、frame、protein identity 和多目标 proxy，保留可解释 edit budget。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33756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</a:defRPr>
            </a:pPr>
            <a:r>
              <a:t>领导汇报重点：这不是“一个生成模型 demo”，而是一套可审计、可扩展、可接外部数据和 SOTA baseline 的 mRNA 设计平台。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</a:defRPr>
            </a:pPr>
            <a:r>
              <a:t>短期目标：在 public split 上形成 T1-T7 proxy benchmark + reproducibility 包。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</a:defRPr>
            </a:pPr>
            <a:r>
              <a:t>中期目标：接入真实 MPRA/TE、stability/half-life、外部 baseline executable，形成 paper-grade 证据。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96BE"/>
                </a:solidFill>
              </a:defRPr>
            </a:pPr>
            <a:r>
              <a:t>Positioning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2D55"/>
                </a:solidFill>
              </a:defRPr>
            </a:pPr>
            <a:r>
              <a:t>3. 项目定位：全长 constrained edit-flow，而非单模块优化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080"/>
                </a:solidFill>
              </a:defRPr>
            </a:pPr>
            <a:r>
              <a:t>核心科学问题：能否用一个可变长生成器联合编辑三段区域并保持蛋白身份？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28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7080"/>
                </a:solidFill>
              </a:defRPr>
            </a:pPr>
            <a:r>
              <a:t>mRNA-EditFlow | leadership briefing | 2026-07-15 | 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63040"/>
          <a:ext cx="1088136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76272"/>
                <a:gridCol w="2176272"/>
                <a:gridCol w="2176272"/>
                <a:gridCol w="2176272"/>
                <a:gridCol w="2176272"/>
              </a:tblGrid>
              <a:tr h="48768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维度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CDS-only optimizer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UTR-only generator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mRNA language model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mRNA-EditFlow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设计范围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CDS/codon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5'UTR 或局部 UTR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表征/打分为主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5'UTR + CDS + 3'UTR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蛋白身份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通常可保证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不涉及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不一定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硬约束 exact identity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长度变化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受限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可变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视模型而定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UTR 可变长，CDS frame-aware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可解释性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codon/energy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motif/TE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edit budget + region + phase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主张边界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结构/CAI/GC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TE proxy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下游预测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全长编辑 + proxy + 约束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663440"/>
            <a:ext cx="10424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12529"/>
                </a:solidFill>
              </a:defRPr>
            </a:pPr>
            <a:r>
              <a:t>关键边界：当前结果主要是 proxy/oracle 和 protocol evidence，不等同于 wet-lab 表达提升。</a:t>
            </a:r>
          </a:p>
          <a:p>
            <a:pPr>
              <a:spcAft>
                <a:spcPts val="500"/>
              </a:spcAft>
              <a:defRPr sz="1300">
                <a:solidFill>
                  <a:srgbClr val="212529"/>
                </a:solidFill>
              </a:defRPr>
            </a:pPr>
            <a:r>
              <a:t>SOTA 对齐必须按任务拆分：T4 CDS、T5 UTR ranking、T6 length control、T7 motif edit、TE/stability downstream。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96BE"/>
                </a:solidFill>
              </a:defRPr>
            </a:pPr>
            <a: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2D55"/>
                </a:solidFill>
              </a:defRPr>
            </a:pPr>
            <a:r>
              <a:t>4. 预训练/训练数据集：公开、可追溯、可审计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080"/>
                </a:solidFill>
              </a:defRPr>
            </a:pPr>
            <a:r>
              <a:t>所有 paper-grade 数据必须来自公开来源，并记录 manifest 与 SHA。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28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7080"/>
                </a:solidFill>
              </a:defRPr>
            </a:pPr>
            <a:r>
              <a:t>mRNA-EditFlow | leadership briefing | 2026-07-15 | 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8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693420"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</a:defRPr>
                      </a:pPr>
                      <a:r>
                        <a:t>数据源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</a:defRPr>
                      </a:pPr>
                      <a:r>
                        <a:t>用途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</a:defRPr>
                      </a:pPr>
                      <a:r>
                        <a:t>获取方法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</a:defRPr>
                      </a:pPr>
                      <a:r>
                        <a:t>处理状态/边界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GENCODE v45 protein-coding transcripts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主 full-transcript corpus；CDS 坐标解析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EBI FTP: gencode.v45.pc_transcripts.fa.gz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本地 pipeline 支持 download/parse/manifest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NCBI RefSeq human 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补充公共参考 mRNA corpus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NCBI FTP human.1.rna.gbff.gz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保守 GenBank parser；跳过 complement/remote/join 复杂记录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Public benchmark heads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T1-T7 proxy benchmark source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processed records + public split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head32/head256/head1024 多尺度结果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MPRA/TE &amp; stability 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真实下游预测验证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待接真实外部表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当前真实表 status=waiting；smoke 为 synthetic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External SOTA executables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LinearDesign/EnsembleDesign/codonGPT/UTailoR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配置 *_BIN 或 PATH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当前 dry-run not_configured，不作性能主张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7150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12529"/>
                </a:solidFill>
              </a:defRPr>
            </a:pPr>
            <a:r>
              <a:t>Stage A scale-law plan source_record_count=54680；source SHA 已记录。</a:t>
            </a:r>
          </a:p>
          <a:p>
            <a:pPr>
              <a:spcAft>
                <a:spcPts val="500"/>
              </a:spcAft>
              <a:defRPr sz="1200">
                <a:solidFill>
                  <a:srgbClr val="212529"/>
                </a:solidFill>
              </a:defRPr>
            </a:pPr>
            <a:r>
              <a:t>数据治理原则：manifest、split provenance、SHA256、leakage audit、cited/local protocol 分栏。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96BE"/>
                </a:solidFill>
              </a:defRPr>
            </a:pPr>
            <a:r>
              <a:t>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2D55"/>
                </a:solidFill>
              </a:defRPr>
            </a:pPr>
            <a:r>
              <a:t>5. 数据集获取方法：从公开源到本地 manifest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080"/>
                </a:solidFill>
              </a:defRPr>
            </a:pPr>
            <a:r>
              <a:t>目标是让领导/审稿人能复现“数据从哪里来、如何过滤、如何切分”。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28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7080"/>
                </a:solidFill>
              </a:defRPr>
            </a:pPr>
            <a:r>
              <a:t>mRNA-EditFlow | leadership briefing | 2026-07-15 |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5577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</a:defRPr>
            </a:pPr>
            <a:r>
              <a:t>1. 下载：GENCODE/RefSeq 官方 FTP；所有 raw 文件写入 data/raw，并记录 URL、版本、SHA256。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</a:defRPr>
            </a:pPr>
            <a:r>
              <a:t>2. 解析：FASTA header 中 CDS:start-end；RefSeq 使用保守 plus-strand contiguous CDS parser。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</a:defRPr>
            </a:pPr>
            <a:r>
              <a:t>3. 清洗：DNA T→RNA U；只保留 A/C/G/U；要求 transcript id、5'UTR、CDS、3'UTR 完整。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</a:defRPr>
            </a:pPr>
            <a:r>
              <a:t>4. 生物约束：AUG start、CDS frame 长度、terminal stop、无 internal stop；丢弃坐标越界/缺失 CDS。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</a:defRPr>
            </a:pPr>
            <a:r>
              <a:t>5. Split：MMseqs2 family-disjoint split；fallback 用 MinHash，目标是避免同源泄漏。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</a:defRPr>
            </a:pPr>
            <a:r>
              <a:t>6. 审计：dataset manifest、data governance、downstream acquisition audit、leakage protocol。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20840" y="1508760"/>
            <a:ext cx="4663440" cy="118872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0840" y="1508760"/>
            <a:ext cx="73152" cy="1188720"/>
          </a:xfrm>
          <a:prstGeom prst="rect">
            <a:avLst/>
          </a:prstGeom>
          <a:solidFill>
            <a:srgbClr val="246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67144" y="1618488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D55"/>
                </a:solidFill>
              </a:defRPr>
            </a:pPr>
            <a:r>
              <a:t>可复现命令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67144" y="2011680"/>
            <a:ext cx="4407407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python3 -m mrna_editflow.data.public_pipeline --download --dataset gencode_human_transcripts --data-dir ... --out-dir ... --seed 20260714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720840" y="2880360"/>
            <a:ext cx="4663440" cy="141732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720840" y="2880360"/>
            <a:ext cx="73152" cy="1417320"/>
          </a:xfrm>
          <a:prstGeom prst="rect">
            <a:avLst/>
          </a:prstGeom>
          <a:solidFill>
            <a:srgbClr val="E8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67144" y="2990088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D55"/>
                </a:solidFill>
              </a:defRPr>
            </a:pPr>
            <a:r>
              <a:t>当前边界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67144" y="3383280"/>
            <a:ext cx="4407407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212529"/>
                </a:solidFill>
              </a:defRPr>
            </a:pPr>
            <a:r>
              <a:t>RefSeq parser 跳过 complement / remote / ambiguous multi-CDS / non-contiguous join；真实 scale-up 需要官方 gbff.gz + attrition audit。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20840" y="4480560"/>
            <a:ext cx="4663440" cy="123444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720840" y="4480560"/>
            <a:ext cx="73152" cy="1234440"/>
          </a:xfrm>
          <a:prstGeom prst="rect">
            <a:avLst/>
          </a:prstGeom>
          <a:solidFill>
            <a:srgbClr val="1A8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67144" y="4590288"/>
            <a:ext cx="4434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52D55"/>
                </a:solidFill>
              </a:defRPr>
            </a:pPr>
            <a:r>
              <a:t>领导关注点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67144" y="4983480"/>
            <a:ext cx="4407407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12529"/>
                </a:solidFill>
              </a:defRPr>
            </a:pPr>
            <a:r>
              <a:t>数据不是“黑盒训练集”；每一步能解释、能复现、能回滚。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96BE"/>
                </a:solidFill>
              </a:defRPr>
            </a:pPr>
            <a:r>
              <a:t>Data 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2D55"/>
                </a:solidFill>
              </a:defRPr>
            </a:pPr>
            <a:r>
              <a:t>6. 数据处理方法：结构化为 full-length edit record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080"/>
                </a:solidFill>
              </a:defRPr>
            </a:pPr>
            <a:r>
              <a:t>把 mRNA 变成可编辑、可约束、可评测的区域化序列对象。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28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7080"/>
                </a:solidFill>
              </a:defRPr>
            </a:pPr>
            <a:r>
              <a:t>mRNA-EditFlow | leadership briefing | 2026-07-15 | 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17320"/>
          <a:ext cx="109728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3721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处理环节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输入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输出/特征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目的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Region parsing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full transcript + CDS coordinate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5'UTR/CDS/3'UTR segments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区域条件控制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Tokenization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A/C/G/U sequence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token ids + region 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序列建模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Phase tracking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CDS codon frame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codon phase 0/1/2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CDS frame 约束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Feature precompute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sequence windows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MFE proxy, start accessibility, pairing propensity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结构/翻译 proxy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Edit alignment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source/target pair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Levenshtein DP edit path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训练 edit-flow target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Family split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transcripts/proteins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train/val/test family-disjoint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防止同源泄漏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Candidate generation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edit budget + ranker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top-k proposals/candidates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T5/T6/T7 评测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80644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12529"/>
                </a:solidFill>
              </a:defRPr>
            </a:pPr>
            <a:r>
              <a:t>复杂度边界：Levenshtein O(len(x0)*len(x1)); Transformer O(B*layers*L^2*dim); MFE fallback O(min(L,cap)^2)。</a:t>
            </a:r>
          </a:p>
          <a:p>
            <a:pPr>
              <a:spcAft>
                <a:spcPts val="500"/>
              </a:spcAft>
              <a:defRPr sz="1200">
                <a:solidFill>
                  <a:srgbClr val="212529"/>
                </a:solidFill>
              </a:defRPr>
            </a:pPr>
            <a:r>
              <a:t>工程策略：head32/head256/head1024 分层跑通，scale-law 逐步扩大。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96BE"/>
                </a:solidFill>
              </a:defRPr>
            </a:pPr>
            <a:r>
              <a:t>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2D55"/>
                </a:solidFill>
              </a:defRPr>
            </a:pPr>
            <a:r>
              <a:t>7. 算法原理：region-conditioned continuous-time edit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080"/>
                </a:solidFill>
              </a:defRPr>
            </a:pPr>
            <a:r>
              <a:t>将 mRNA 设计建模为受约束 CTMC 编辑过程。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28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7080"/>
                </a:solidFill>
              </a:defRPr>
            </a:pPr>
            <a:r>
              <a:t>mRNA-EditFlow | leadership briefing | 2026-07-15 | 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6304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</a:defRPr>
            </a:pPr>
            <a:r>
              <a:t>每个位置 i 预测三类非负编辑速率：insert / substitute / delete。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</a:defRPr>
            </a:pPr>
            <a:r>
              <a:t>插入/替换还预测 token distribution p(a)，形成 atomic transition intensity q(x→x').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</a:defRPr>
            </a:pPr>
            <a:r>
              <a:t>CDS 区域用 codon lattice 和 synonymous mask 限制；UTR 区域保留 nucleotide-level variable-length edits。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</a:defRPr>
            </a:pPr>
            <a:r>
              <a:t>训练目标由 edit-flow loss + 结构/约束辅助项组成；推理时结合 proposal ranker 和 multi-objective scoring。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554480"/>
            <a:ext cx="4754880" cy="91440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554480"/>
            <a:ext cx="73152" cy="914400"/>
          </a:xfrm>
          <a:prstGeom prst="rect">
            <a:avLst/>
          </a:prstGeom>
          <a:solidFill>
            <a:srgbClr val="246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7104" y="1664207"/>
            <a:ext cx="4526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D55"/>
                </a:solidFill>
              </a:defRPr>
            </a:pPr>
            <a:r>
              <a:t>核心公式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057400"/>
            <a:ext cx="449884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q(Ins)=λ_ins_i · p_ins_i(a)</a:t>
            </a:r>
          </a:p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q(Sub)=λ_sub_i · p_sub_i(a)</a:t>
            </a:r>
          </a:p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q(Del)=λ_del_i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43200"/>
            <a:ext cx="4754880" cy="105156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2743200"/>
            <a:ext cx="73152" cy="1051560"/>
          </a:xfrm>
          <a:prstGeom prst="rect">
            <a:avLst/>
          </a:prstGeom>
          <a:solidFill>
            <a:srgbClr val="1A8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2852928"/>
            <a:ext cx="4526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D55"/>
                </a:solidFill>
              </a:defRPr>
            </a:pPr>
            <a:r>
              <a:t>硬约束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3246120"/>
            <a:ext cx="449884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12529"/>
                </a:solidFill>
              </a:defRPr>
            </a:pPr>
            <a:r>
              <a:t>CDS substitutions 限制为 synonymous nucleotides；CDS indels 禁止或 whole-codon edits；UTR 可变长。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114800"/>
            <a:ext cx="4754880" cy="105156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4114800"/>
            <a:ext cx="73152" cy="10515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4224528"/>
            <a:ext cx="4526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D55"/>
                </a:solidFill>
              </a:defRPr>
            </a:pPr>
            <a:r>
              <a:t>可解释输出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4617720"/>
            <a:ext cx="4498848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12529"/>
                </a:solidFill>
              </a:defRPr>
            </a:pPr>
            <a:r>
              <a:t>每个候选都有 edit distance、region edits、protein identity、frame intact、oracle TE/MRL proxy 等审计字段。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96BE"/>
                </a:solidFill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2D55"/>
                </a:solidFill>
              </a:defRPr>
            </a:pPr>
            <a:r>
              <a:t>8. 模型架构：frozen backbone + region/phase-aware edit 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080"/>
                </a:solidFill>
              </a:defRPr>
            </a:pPr>
            <a:r>
              <a:t>坚持轻量可控：先冻结/复用表征，再通过任务头和 ranker 逐步增强。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28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7080"/>
                </a:solidFill>
              </a:defRPr>
            </a:pPr>
            <a:r>
              <a:t>mRNA-EditFlow | leadership briefing | 2026-07-15 | 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1115568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56007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模块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作用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当前证据/状态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Public mRNA backbone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序列表征基础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frozen backbone protocol 已有 query/reference/leakage artifact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MRNAEditFormer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RoPE + region FiLM + codon constraints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Stage A generator 主干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Rate heads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λ_ins, λ_sub, λ_del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CTMC edit-flow 核心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Token heads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p_ins(a), p_sub(a)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预测插入/替换碱基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Constraint masks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CDS synonymous / frame / legality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protein identity、frame intact 多项结果=1.0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Proposal ranker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T5/T6 top-k candidates 排序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head256/head1024 多 seed 结果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Multi-objective scorer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TE/MRL/GC/CAI/novelty/length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12529"/>
                          </a:solidFill>
                        </a:defRPr>
                      </a:pPr>
                      <a:r>
                        <a:t>Pareto/scalar/GRPO 等分支比较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9893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12529"/>
                </a:solidFill>
              </a:defRPr>
            </a:pPr>
            <a:r>
              <a:t>架构哲学：先保证生物硬约束和可审计，再追求 proxy 提升；避免为单一 proxy 牺牲 protein identity/frame。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96BE"/>
                </a:solidFill>
              </a:defRPr>
            </a:pPr>
            <a:r>
              <a:t>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2D55"/>
                </a:solidFill>
              </a:defRPr>
            </a:pPr>
            <a:r>
              <a:t>9. 训练与模型版本：从 smoke 到 10-seed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080"/>
                </a:solidFill>
              </a:defRPr>
            </a:pPr>
            <a:r>
              <a:t>当前已经形成 head32/head256/head1024 与 10-seed 多尺度评测链路。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28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7080"/>
                </a:solidFill>
              </a:defRPr>
            </a:pPr>
            <a:r>
              <a:t>mRNA-EditFlow | leadership briefing | 2026-07-15 | 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88136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120"/>
                <a:gridCol w="3627120"/>
                <a:gridCol w="3627120"/>
              </a:tblGrid>
              <a:tr h="61395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阶段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目的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当前状态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Stage A generator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学习 full-length edit dynamics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public full 10k checkpoint 已用于多任务评测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T5 ranker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优化 UTR/proxy candidate ranking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head1024 mo_pareto / mo_scalar / te_only 均 10 seeds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T6 length control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评估长度增减与约束保持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head256/head1024 len±15/30 多 seed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T7 motif editing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Kozak/motif 插入/删除安全性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10-seed constructive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T4 CDS lattice DP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CDS protein identity + CAI/GC proxy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head256 报告完成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Scale-law sweep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数据量/模型/step 轴扩展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计划存在，受远端 load gate 等待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77240" y="571500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12529"/>
                </a:solidFill>
              </a:defRPr>
            </a:pPr>
            <a:r>
              <a:t>Scale-law plan: n_runs=8; data_sizes=[256, 1024]; model_sizes=['tiny', 'small']。</a:t>
            </a:r>
          </a:p>
          <a:p>
            <a:pPr>
              <a:spcAft>
                <a:spcPts val="500"/>
              </a:spcAft>
              <a:defRPr sz="1200">
                <a:solidFill>
                  <a:srgbClr val="212529"/>
                </a:solidFill>
              </a:defRPr>
            </a:pPr>
            <a:r>
              <a:t>结论边界：scale-law 尚未产出最终 summary，不能主张“规模律已验证”。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96BE"/>
                </a:solidFill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2D55"/>
                </a:solidFill>
              </a:defRPr>
            </a:pPr>
            <a:r>
              <a:t>10. 测评方法：T1-T7 任务矩阵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080"/>
                </a:solidFill>
              </a:defRPr>
            </a:pPr>
            <a:r>
              <a:t>每个任务单独定义指标，避免混用 protocol。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28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7080"/>
                </a:solidFill>
              </a:defRPr>
            </a:pPr>
            <a:r>
              <a:t>mRNA-EditFlow | leadership briefing | 2026-07-15 | 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24712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94360"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</a:defRPr>
                      </a:pPr>
                      <a:r>
                        <a:t>任务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</a:defRPr>
                      </a:pPr>
                      <a:r>
                        <a:t>目标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</a:defRPr>
                      </a:pPr>
                      <a:r>
                        <a:t>核心指标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 b="1">
                          <a:solidFill>
                            <a:srgbClr val="FFFFFF"/>
                          </a:solidFill>
                        </a:defRPr>
                      </a:pPr>
                      <a:r>
                        <a:t>当前证据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T1 runtime/throughput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训练/推理可运行性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runtime, memory, candidate count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runtime report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T2/T3 distribution/novelty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分布与多样性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JS/KL, novelty, length/GC hist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distribution novelty 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T4 CDS/codon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CDS 蛋白保真与 CAI/GC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protein identity, CAI, GC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DP + GC sweep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T5 UTR/proxy ranking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TE/MRL proxy 提升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Δoracle TE, MRL, legal, identity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10-seed head1024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T6 length control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长度增减编辑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length error, edit distance, TE tradeoff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len ±15/30 runs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T7 motif edit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motif insertion/excision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success, frame, protein identity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10-seed motif benchmark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Downstream predictor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真实 TE/stability 预测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Pearson/Spearman/RMSE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9">
                          <a:solidFill>
                            <a:srgbClr val="212529"/>
                          </a:solidFill>
                        </a:defRPr>
                      </a:pPr>
                      <a:r>
                        <a:t>真实表等待；smoke only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96BE"/>
                </a:solidFill>
              </a:defRPr>
            </a:pPr>
            <a:r>
              <a:t>Downstream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2D55"/>
                </a:solidFill>
              </a:defRPr>
            </a:pPr>
            <a:r>
              <a:t>11. 下游任务与数据集状态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080"/>
                </a:solidFill>
              </a:defRPr>
            </a:pPr>
            <a:r>
              <a:t>下游任务分为已完成 proxy、已跑通 smoke、等待真实表三类。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28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7080"/>
                </a:solidFill>
              </a:defRPr>
            </a:pPr>
            <a:r>
              <a:t>mRNA-EditFlow | leadership briefing | 2026-07-15 | 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2471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582930"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</a:defRPr>
                      </a:pPr>
                      <a:r>
                        <a:t>下游任务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</a:defRPr>
                      </a:pPr>
                      <a:r>
                        <a:t>数据/样本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</a:defRPr>
                      </a:pPr>
                      <a:r>
                        <a:t>当前状态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</a:defRPr>
                      </a:pPr>
                      <a:r>
                        <a:t>能否作为 SOTA 证据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T5 UTR/proxy ranking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public head256/head1024 records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10-seed 完成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proxy evidence，可报告但非 wet-lab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T6 length control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public head256/head1024 records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多配置完成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安全/控制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T7 motif edit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256 records × 10 seeds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完成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motif safety/proxy evidence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T4 CDS optimization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256 CDS records + GC sweep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CDS lattice proxy evidence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MPRA TE predictor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real MPRA table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waiting_for_downstream_tables；smoke synthetic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不能作真实 TE claim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Stability/half-life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real stability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waiting_for_downstream_tables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不能作 stability claim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External SOTA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LinearDesign/UTailoR/codonGPT executables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dry-run not_configured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不能作外部 SOTA performance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6172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100">
                <a:solidFill>
                  <a:srgbClr val="212529"/>
                </a:solidFill>
              </a:defRPr>
            </a:pPr>
            <a:r>
              <a:t>Downstream status: waiting_for_downstream_tables；MPRA/stability manifests currently absent。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96BE"/>
                </a:solidFill>
              </a:defRPr>
            </a:pPr>
            <a:r>
              <a:t>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2D55"/>
                </a:solidFill>
              </a:defRPr>
            </a:pPr>
            <a:r>
              <a:t>12. 当前模型能力总览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080"/>
                </a:solidFill>
              </a:defRPr>
            </a:pPr>
            <a:r>
              <a:t>已经具备“可控编辑 + 硬约束保持 + 多目标 proxy ranking”的工程闭环。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28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7080"/>
                </a:solidFill>
              </a:defRPr>
            </a:pPr>
            <a:r>
              <a:t>mRNA-EditFlow | leadership briefing | 2026-07-15 |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417320"/>
            <a:ext cx="3429000" cy="141732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417320"/>
            <a:ext cx="73152" cy="1417320"/>
          </a:xfrm>
          <a:prstGeom prst="rect">
            <a:avLst/>
          </a:prstGeom>
          <a:solidFill>
            <a:srgbClr val="246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" y="15270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D55"/>
                </a:solidFill>
              </a:defRPr>
            </a:pPr>
            <a:r>
              <a:t>全长编辑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1920240"/>
            <a:ext cx="31729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同一框架覆盖 5'UTR/CDS/3'UTR，支持 variable-length edits 与 edit budget。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417320"/>
            <a:ext cx="3429000" cy="141732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43400" y="1417320"/>
            <a:ext cx="73152" cy="1417320"/>
          </a:xfrm>
          <a:prstGeom prst="rect">
            <a:avLst/>
          </a:prstGeom>
          <a:solidFill>
            <a:srgbClr val="1A8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5270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D55"/>
                </a:solidFill>
              </a:defRPr>
            </a:pPr>
            <a:r>
              <a:t>蛋白保真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9704" y="1920240"/>
            <a:ext cx="31729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T4/T5/T6/T7 结果均可报告 protein identity / frame intact；多数关键任务为 1.0。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17320"/>
            <a:ext cx="3429000" cy="141732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2440" y="1417320"/>
            <a:ext cx="73152" cy="141732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38744" y="152704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D55"/>
                </a:solidFill>
              </a:defRPr>
            </a:pPr>
            <a:r>
              <a:t>Proxy 提升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8744" y="1920240"/>
            <a:ext cx="31729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T5 head1024 Pareto Δoracle TE +0.93 pp；T6 len-30 head1024 +0.65 pp。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337560"/>
            <a:ext cx="3429000" cy="141732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3337560"/>
            <a:ext cx="73152" cy="1417320"/>
          </a:xfrm>
          <a:prstGeom prst="rect">
            <a:avLst/>
          </a:prstGeom>
          <a:solidFill>
            <a:srgbClr val="E8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0664" y="344728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D55"/>
                </a:solidFill>
              </a:defRPr>
            </a:pPr>
            <a:r>
              <a:t>安全控制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" y="3840480"/>
            <a:ext cx="31729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T7 motif insert/excise 成功率约 99.3%，frame/protein identity 保持 100%。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3400" y="3337560"/>
            <a:ext cx="3429000" cy="141732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43400" y="3337560"/>
            <a:ext cx="73152" cy="1417320"/>
          </a:xfrm>
          <a:prstGeom prst="rect">
            <a:avLst/>
          </a:prstGeom>
          <a:solidFill>
            <a:srgbClr val="246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9704" y="344728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D55"/>
                </a:solidFill>
              </a:defRPr>
            </a:pPr>
            <a:r>
              <a:t>可审计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9704" y="3840480"/>
            <a:ext cx="31729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每个 benchmark 有 JSON/MD/table，包含 seeds、records、metrics、claim policy。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92440" y="3337560"/>
            <a:ext cx="3429000" cy="141732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3337560"/>
            <a:ext cx="73152" cy="14173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38744" y="3447288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D55"/>
                </a:solidFill>
              </a:defRPr>
            </a:pPr>
            <a:r>
              <a:t>边界清晰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38744" y="3840480"/>
            <a:ext cx="317296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50">
                <a:solidFill>
                  <a:srgbClr val="212529"/>
                </a:solidFill>
              </a:defRPr>
            </a:pPr>
            <a:r>
              <a:t>真实 TE/stability、外部 SOTA executable、wet-lab validation 尚未完成。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96BE"/>
                </a:solidFill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2D55"/>
                </a:solidFill>
              </a:defRPr>
            </a:pPr>
            <a:r>
              <a:t>13. 关键结果一：T5 UTR/proxy ranking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080"/>
                </a:solidFill>
              </a:defRPr>
            </a:pPr>
            <a:r>
              <a:t>多目标 Pareto 在 head1024 上稳定提升 TE proxy，同时保持硬约束。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28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7080"/>
                </a:solidFill>
              </a:defRPr>
            </a:pPr>
            <a:r>
              <a:t>mRNA-EditFlow | leadership briefing | 2026-07-15 | 14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508760"/>
          <a:ext cx="54864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16002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12529"/>
                </a:solidFill>
              </a:defRPr>
            </a:pPr>
            <a:r>
              <a:t>head1024 mo_pareto: Δoracle TE=+0.93 pp; mean edit distance=2.95。</a:t>
            </a:r>
          </a:p>
          <a:p>
            <a:pPr>
              <a:spcAft>
                <a:spcPts val="500"/>
              </a:spcAft>
              <a:defRPr sz="1300">
                <a:solidFill>
                  <a:srgbClr val="212529"/>
                </a:solidFill>
              </a:defRPr>
            </a:pPr>
            <a:r>
              <a:t>protein identity=100.00%; reading frame intact=100.00%; legal=100.00%。</a:t>
            </a:r>
          </a:p>
          <a:p>
            <a:pPr>
              <a:spcAft>
                <a:spcPts val="500"/>
              </a:spcAft>
              <a:defRPr sz="1300">
                <a:solidFill>
                  <a:srgbClr val="212529"/>
                </a:solidFill>
              </a:defRPr>
            </a:pPr>
            <a:r>
              <a:t>Pareto / scalar / TE-only 都是 proxy 证据；真实 TE 仍需 MPRA/外部 predictor 表。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96BE"/>
                </a:solidFill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2D55"/>
                </a:solidFill>
              </a:defRPr>
            </a:pPr>
            <a:r>
              <a:t>14. 关键结果二：T6 长度控制 / edit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080"/>
                </a:solidFill>
              </a:defRPr>
            </a:pPr>
            <a:r>
              <a:t>目标长度变化下保持 legality/protein identity，同时观察 TE tradeoff。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28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7080"/>
                </a:solidFill>
              </a:defRPr>
            </a:pPr>
            <a:r>
              <a:t>mRNA-EditFlow | leadership briefing | 2026-07-15 | 15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508760"/>
          <a:ext cx="548640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160020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12529"/>
                </a:solidFill>
              </a:defRPr>
            </a:pPr>
            <a:r>
              <a:t>head1024 len-30: Δoracle TE=+0.65 pp; mean edit distance=29.48。</a:t>
            </a:r>
          </a:p>
          <a:p>
            <a:pPr>
              <a:spcAft>
                <a:spcPts val="500"/>
              </a:spcAft>
              <a:defRPr sz="1300">
                <a:solidFill>
                  <a:srgbClr val="212529"/>
                </a:solidFill>
              </a:defRPr>
            </a:pPr>
            <a:r>
              <a:t>protein identity=100.00%; frame intact=100.00%; within budget=100.00%。</a:t>
            </a:r>
          </a:p>
          <a:p>
            <a:pPr>
              <a:spcAft>
                <a:spcPts val="500"/>
              </a:spcAft>
              <a:defRPr sz="1300">
                <a:solidFill>
                  <a:srgbClr val="212529"/>
                </a:solidFill>
              </a:defRPr>
            </a:pPr>
            <a:r>
              <a:t>长度增加方向在当前结果中有明显 TE tradeoff，需要未来用 stronger ranker / predictor-guided decoding 修复。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96BE"/>
                </a:solidFill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2D55"/>
                </a:solidFill>
              </a:defRPr>
            </a:pPr>
            <a:r>
              <a:t>15. 关键结果三：T4 CDS 蛋白身份 + CAI/GC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080"/>
                </a:solidFill>
              </a:defRPr>
            </a:pPr>
            <a:r>
              <a:t>CDS 侧已具备透明的 synonymous codon lattice baseline。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28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7080"/>
                </a:solidFill>
              </a:defRPr>
            </a:pPr>
            <a:r>
              <a:t>mRNA-EditFlow | leadership briefing | 2026-07-15 |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56692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49638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指标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当前数值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解释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Protein identity fraction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100.00%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硬约束保持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Mean ΔCAI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+0.0268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小 edit budget DP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Mean ΔGC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+0.0064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小幅 GC 调整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GC sweep best CAI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1.000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CAI 最大化点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9638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GC sweep best GC abs error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0.054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GC target 更贴近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9639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Sweep rows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2048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12529"/>
                          </a:solidFill>
                        </a:defRPr>
                      </a:pPr>
                      <a:r>
                        <a:t>8 points × 256 targets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629400" y="155448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12529"/>
                </a:solidFill>
              </a:defRPr>
            </a:pPr>
            <a:r>
              <a:t>T4 证据定位：CDS/protein-identity + CAI/GC proxy；不是真实 LinearDesign/codonGPT 复现，也不是 wet-lab。</a:t>
            </a:r>
          </a:p>
          <a:p>
            <a:pPr>
              <a:spcAft>
                <a:spcPts val="500"/>
              </a:spcAft>
              <a:defRPr sz="1300">
                <a:solidFill>
                  <a:srgbClr val="212529"/>
                </a:solidFill>
              </a:defRPr>
            </a:pPr>
            <a:r>
              <a:t>价值：为 CDS 区域提供可解释、可验证的下限 baseline；也证明硬约束工程链路可运行。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96BE"/>
                </a:solidFill>
              </a:defRPr>
            </a:pPr>
            <a: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2D55"/>
                </a:solidFill>
              </a:defRPr>
            </a:pPr>
            <a:r>
              <a:t>16. 关键结果四：T7 motif edit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080"/>
                </a:solidFill>
              </a:defRPr>
            </a:pPr>
            <a:r>
              <a:t>Kozak-like motif GCCACC 插入/删除的安全编辑能力。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28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7080"/>
                </a:solidFill>
              </a:defRPr>
            </a:pPr>
            <a:r>
              <a:t>mRNA-EditFlow | leadership briefing | 2026-07-15 | 17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40080" y="1508760"/>
          <a:ext cx="557784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46520" y="1508760"/>
            <a:ext cx="52120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</a:defRPr>
            </a:pPr>
            <a:r>
              <a:t>insert success=99.34%; excise success=99.34%。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</a:defRPr>
            </a:pPr>
            <a:r>
              <a:t>mean edit distance=6.0; within budget=100.00%。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</a:defRPr>
            </a:pPr>
            <a:r>
              <a:t>excise Δoracle TE vs inserted source=+0.55 pp; insert Δoracle TE=-0.60 pp。</a:t>
            </a:r>
          </a:p>
          <a:p>
            <a:pPr>
              <a:spcAft>
                <a:spcPts val="500"/>
              </a:spcAft>
              <a:defRPr sz="1250">
                <a:solidFill>
                  <a:srgbClr val="212529"/>
                </a:solidFill>
              </a:defRPr>
            </a:pPr>
            <a:r>
              <a:t>结论：motif 操作安全性强；但插入方向 proxy tradeoff 仍需 ranker/constraint 优化。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96BE"/>
                </a:solidFill>
              </a:defRPr>
            </a:pPr>
            <a:r>
              <a:t>Downstream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2D55"/>
                </a:solidFill>
              </a:defRPr>
            </a:pPr>
            <a:r>
              <a:t>17. 下游真实数据：当前状态与 smoke 结果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080"/>
                </a:solidFill>
              </a:defRPr>
            </a:pPr>
            <a:r>
              <a:t>真实 TE/stability 表尚未接入；已有 protocol smoke 仅用于验证流程。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28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7080"/>
                </a:solidFill>
              </a:defRPr>
            </a:pPr>
            <a:r>
              <a:t>mRNA-EditFlow | leadership briefing | 2026-07-15 | 18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任务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当前输入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指标/状态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结论边界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MPRA TE predictor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synthetic smoke n=64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test Pearson -0.681, Spearman -0.180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流程 smoke，不能当真实 TE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MPRA TE real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manifest/table missing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status waiting_for_downstream_tables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需要真实表和 split provenance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Stability/half-life real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manifest/table missing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status waiting_for_downstream_tables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需要真实表和独立报告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External SOTA dry-run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LinearDesign/EnsembleDesign/codonGPT/UTailoR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not_configured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等待真实可执行文件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448056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12529"/>
                </a:solidFill>
              </a:defRPr>
            </a:pPr>
            <a:r>
              <a:t>MPRA smoke: train Pearson=0.799, val Pearson=0.876, test Pearson=-0.681；但 source_kind=synthetic_smoke。</a:t>
            </a:r>
          </a:p>
          <a:p>
            <a:pPr>
              <a:spcAft>
                <a:spcPts val="500"/>
              </a:spcAft>
              <a:defRPr sz="1300">
                <a:solidFill>
                  <a:srgbClr val="212529"/>
                </a:solidFill>
              </a:defRPr>
            </a:pPr>
            <a:r>
              <a:t>领导汇报建议：把下游真实表接入列为 P0 资源诉求；否则只能讲 proxy evidence。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96BE"/>
                </a:solidFill>
              </a:defRPr>
            </a:pPr>
            <a:r>
              <a:t>SOTA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2D55"/>
                </a:solidFill>
              </a:defRPr>
            </a:pPr>
            <a:r>
              <a:t>18. SOTA 对齐策略：分任务对齐，不混 leaderboard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080"/>
                </a:solidFill>
              </a:defRPr>
            </a:pPr>
            <a:r>
              <a:t>mRNA 设计领域没有统一 leaderboard，必须按任务 scope 对齐。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28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7080"/>
                </a:solidFill>
              </a:defRPr>
            </a:pPr>
            <a:r>
              <a:t>mRNA-EditFlow | leadership briefing | 2026-07-15 | 19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24712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62939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方向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代表方法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公平比较口径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当前状态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CDS/codon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LinearDesign, EnsembleDesign, codonGPT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T4 CDS lattice + CAI/GC/protein identity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本地 DP baseline；外部 executable 待配置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5'UTR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UTailoR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T5/T7 5'UTR proxy + CDS 保持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已有 proxy，外部 baseline 待接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Full-length generation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GEMORNA, mRNA-GPT, ProMORNA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5'UTR+CDS+3'UTR + hard constraints + proxy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最接近论文主线；需真实 predictor/wet-lab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Representation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mRNA-LM, Helix-mRNA, CodonFM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frozen probe / adapter comparison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protocol 已设计，真实对比待执行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Latent optimization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RNAGenScape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property gain + on-manifold + constraints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可作为未来对照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12529"/>
                </a:solidFill>
              </a:defRPr>
            </a:pPr>
            <a:r>
              <a:t>原则：cited/local protocol 分栏；external executable 没配置前，不写 performance claim。</a:t>
            </a:r>
          </a:p>
          <a:p>
            <a:pPr>
              <a:spcAft>
                <a:spcPts val="500"/>
              </a:spcAft>
              <a:defRPr sz="1200">
                <a:solidFill>
                  <a:srgbClr val="212529"/>
                </a:solidFill>
              </a:defRPr>
            </a:pPr>
            <a:r>
              <a:t>当前外部 dry-run 只是 readiness audit，不是结果。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96BE"/>
                </a:solidFill>
              </a:defRPr>
            </a:pPr>
            <a:r>
              <a:t>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2D55"/>
                </a:solidFill>
              </a:defRPr>
            </a:pPr>
            <a:r>
              <a:t>19. 当前主要短板与风险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080"/>
                </a:solidFill>
              </a:defRPr>
            </a:pPr>
            <a:r>
              <a:t>所有风险均已在 artifact 中写 claim_policy，避免过度承诺。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28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7080"/>
                </a:solidFill>
              </a:defRPr>
            </a:pPr>
            <a:r>
              <a:t>mRNA-EditFlow | leadership briefing | 2026-07-15 | 20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247120" cy="4434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33548"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</a:defRPr>
                      </a:pPr>
                      <a:r>
                        <a:t>风险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</a:defRPr>
                      </a:pPr>
                      <a:r>
                        <a:t>当前证据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</a:defRPr>
                      </a:pPr>
                      <a:r>
                        <a:t>影响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 b="1">
                          <a:solidFill>
                            <a:srgbClr val="FFFFFF"/>
                          </a:solidFill>
                        </a:defRPr>
                      </a:pPr>
                      <a:r>
                        <a:t>应对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真实 TE/stability 缺失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downstream status waiting_for_downstream_tables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不能声称真实表达提升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接 MPRA/half-life 表，做 held-out predictor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外部 baseline 未配置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dry-run not_configured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不能声称超过 LinearDesign/codonGPT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配置 executable 或复现 adapter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Scale-law 未闭环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stage sweep load-gated waiting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不能主张规模律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降低负载门控或分批跑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Proxy tradeoff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T6 length+/T7 insert 有 TE 下降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编辑目标冲突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multi-objective ranker + predictor-guided decode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3548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小样本 smoke 诱导误判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head32 guided TE 有强信号但 n=32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不能作主 claim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扩到 head256/1024 + 10 seeds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33552"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数据泄漏风险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family split / leakage docs 存在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审稿高风险点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60">
                          <a:solidFill>
                            <a:srgbClr val="212529"/>
                          </a:solidFill>
                        </a:defRPr>
                      </a:pPr>
                      <a:r>
                        <a:t>manifest + MMseqs/MinHash audit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96BE"/>
                </a:solidFill>
              </a:defRPr>
            </a:pPr>
            <a:r>
              <a:t>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2D55"/>
                </a:solidFill>
              </a:defRPr>
            </a:pPr>
            <a:r>
              <a:t>20. 未来规划：从 proxy 闭环走向 paper-grade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080"/>
                </a:solidFill>
              </a:defRPr>
            </a:pPr>
            <a:r>
              <a:t>建议按 P0/P1/P2 分阶段推进，先补真实数据和外部 baseline，再做模型 scale-up。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28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7080"/>
                </a:solidFill>
              </a:defRPr>
            </a:pPr>
            <a:r>
              <a:t>mRNA-EditFlow | leadership briefing | 2026-07-15 | 21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24712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620485"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优先级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事项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验收标准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 b="1">
                          <a:solidFill>
                            <a:srgbClr val="FFFFFF"/>
                          </a:solidFill>
                        </a:defRPr>
                      </a:pPr>
                      <a:r>
                        <a:t>预计产物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接入真实 MPRA/TE 与 stability/half-life 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manifest + split + report + leakage audit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real downstream predictor reports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配置外部 SOTA executable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LinearDesign/UTailoR/codonGPT 至少 1-2 个 ready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external_sota measured table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P0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T5/T6/T7 best configs 10-seed significance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bootstrap CI + paired permutation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paper Table 2/ablation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扩 head1024/head2048 + data scale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同向提升且 constraints 不退化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scale-law summary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0485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P1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加入 stronger predictor-guided decoding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TE/MRL 提升同时控制 uAUG/Kozak/polyA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guided decoding report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20490"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准备 wet-lab candidate shortlist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多目标 Pareto + manufacturability filters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80">
                          <a:solidFill>
                            <a:srgbClr val="212529"/>
                          </a:solidFill>
                        </a:defRPr>
                      </a:pPr>
                      <a:r>
                        <a:t>candidate package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89788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212529"/>
                </a:solidFill>
              </a:defRPr>
            </a:pPr>
            <a:r>
              <a:t>关键资源诉求：真实下游表、外部 baseline 环境、稳定 GPU 队列、10-seed 统计预算。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96BE"/>
                </a:solidFill>
              </a:defRPr>
            </a:pPr>
            <a:r>
              <a:t>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2D55"/>
                </a:solidFill>
              </a:defRPr>
            </a:pPr>
            <a:r>
              <a:t>21. 数据治理与可复现机制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080"/>
                </a:solidFill>
              </a:defRPr>
            </a:pPr>
            <a:r>
              <a:t>领导/审稿视角最关心“能不能复现、有没有泄漏、有没有过度声明”。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28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7080"/>
                </a:solidFill>
              </a:defRPr>
            </a:pPr>
            <a:r>
              <a:t>mRNA-EditFlow | leadership briefing | 2026-07-15 | 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</a:defRPr>
            </a:pPr>
            <a:r>
              <a:t>Raw data：记录 URL、版本、SHA256；processed records 记录 source hash。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</a:defRPr>
            </a:pPr>
            <a:r>
              <a:t>Splits：MMseqs2 family-disjoint；fallback MinHash；README 明确 cited/local 分栏。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</a:defRPr>
            </a:pPr>
            <a:r>
              <a:t>Artifacts：每个 benchmark 生成 JSON/MD/table；claim_policy 写清楚是否可作 SOTA evidence。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</a:defRPr>
            </a:pPr>
            <a:r>
              <a:t>Statistics：best config 进入 10 seeds；bootstrap CI；paired permutation；不跨 protocol 比较。</a:t>
            </a:r>
          </a:p>
          <a:p>
            <a:pPr>
              <a:spcAft>
                <a:spcPts val="500"/>
              </a:spcAft>
              <a:defRPr sz="1400">
                <a:solidFill>
                  <a:srgbClr val="212529"/>
                </a:solidFill>
              </a:defRPr>
            </a:pPr>
            <a:r>
              <a:t>Model cards：checkpoint path、seed、records、hardware、runtime、candidate count 必须随表格发布。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645920"/>
            <a:ext cx="4937760" cy="118872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645920"/>
            <a:ext cx="73152" cy="1188720"/>
          </a:xfrm>
          <a:prstGeom prst="rect">
            <a:avLst/>
          </a:prstGeom>
          <a:solidFill>
            <a:srgbClr val="1A8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47104" y="1755648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D55"/>
                </a:solidFill>
              </a:defRPr>
            </a:pPr>
            <a:r>
              <a:t>当前已有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7104" y="2148840"/>
            <a:ext cx="46817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12529"/>
                </a:solidFill>
              </a:defRPr>
            </a:pPr>
            <a:r>
              <a:t>README、docs/data_governance、dataset_manifest_audit、downstream acquisition audit、SOTA gap report、external dry-run readiness。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3108960"/>
            <a:ext cx="4937760" cy="118872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108960"/>
            <a:ext cx="73152" cy="1188720"/>
          </a:xfrm>
          <a:prstGeom prst="rect">
            <a:avLst/>
          </a:prstGeom>
          <a:solidFill>
            <a:srgbClr val="E87E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47104" y="3218688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D55"/>
                </a:solidFill>
              </a:defRPr>
            </a:pPr>
            <a:r>
              <a:t>待补齐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47104" y="3611880"/>
            <a:ext cx="46817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12529"/>
                </a:solidFill>
              </a:defRPr>
            </a:pPr>
            <a:r>
              <a:t>真实下游数据 manifest；外部 baseline executable metrics；scale-law summary；最终 10-seed significance。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572000"/>
            <a:ext cx="4937760" cy="91440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4572000"/>
            <a:ext cx="73152" cy="914400"/>
          </a:xfrm>
          <a:prstGeom prst="rect">
            <a:avLst/>
          </a:prstGeom>
          <a:solidFill>
            <a:srgbClr val="246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7104" y="4681728"/>
            <a:ext cx="47091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152D55"/>
                </a:solidFill>
              </a:defRPr>
            </a:pPr>
            <a:r>
              <a:t>原则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7104" y="5074920"/>
            <a:ext cx="468172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212529"/>
                </a:solidFill>
              </a:defRPr>
            </a:pPr>
            <a:r>
              <a:t>宁可写“待产出/不支持 claim”，也不混用 split 或夸大 proxy。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96BE"/>
                </a:solidFill>
              </a:defRPr>
            </a:pPr>
            <a:r>
              <a:t>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2D55"/>
                </a:solidFill>
              </a:defRPr>
            </a:pPr>
            <a:r>
              <a:t>22. 给领导的资源诉求与决策点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080"/>
                </a:solidFill>
              </a:defRPr>
            </a:pPr>
            <a:r>
              <a:t>让项目从“可运行 proof”进入“可发表证据”。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28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7080"/>
                </a:solidFill>
              </a:defRPr>
            </a:pPr>
            <a:r>
              <a:t>mRNA-EditFlow | leadership briefing | 2026-07-15 | 23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417320"/>
          <a:ext cx="109728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662939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诉求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为什么重要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预期收益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真实 TE/MPRA + stability 数据表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proxy 不能替代真实下游验证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把 claim 从 proxy 提升到 downstream evidence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外部 SOTA 可执行环境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需要公平 apples-to-apples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形成可信 SOTA 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GPU/队列稳定性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scale-law 与 10 seeds 需要稳定长跑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缩短实验周期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生物实验评审资源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候选 shortlist 需要可制造性/免疫原性判断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减少 wet-lab 风险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统计审计时间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CI/p-value/seed audit 是投稿前硬门槛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212529"/>
                          </a:solidFill>
                        </a:defRPr>
                      </a:pPr>
                      <a:r>
                        <a:t>提升论文可信度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22960" y="5623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212529"/>
                </a:solidFill>
              </a:defRPr>
            </a:pPr>
            <a:r>
              <a:t>建议决策：先批准 P0 真实下游表 + 外部 baseline 配置；模型 scale-up 与 wet-lab shortlist 在 P0 证据稳定后推进。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96BE"/>
                </a:solidFill>
              </a:defRPr>
            </a:pPr>
            <a: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2D55"/>
                </a:solidFill>
              </a:defRPr>
            </a:pPr>
            <a:r>
              <a:t>23. 关键产物索引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080"/>
                </a:solidFill>
              </a:defRPr>
            </a:pPr>
            <a:r>
              <a:t>本页方便会后追溯。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28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7080"/>
                </a:solidFill>
              </a:defRPr>
            </a:pPr>
            <a:r>
              <a:t>mRNA-EditFlow | leadership briefing | 2026-07-15 | 24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417320"/>
          <a:ext cx="1106424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32120"/>
                <a:gridCol w="5532120"/>
              </a:tblGrid>
              <a:tr h="432261"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类别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FFFFFF"/>
                          </a:solidFill>
                        </a:defRPr>
                      </a:pPr>
                      <a:r>
                        <a:t>本地路径</a:t>
                      </a:r>
                    </a:p>
                  </a:txBody>
                  <a:tcPr>
                    <a:solidFill>
                      <a:srgbClr val="152D55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README 总览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mrna_editflow/README.md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SOTA gap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mrna_editflow/docs/sota_gap_report.{json,md}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SOTA landscape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mrna_editflow/docs/paper_table1_sota_landscape.{json,md}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主结果表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mrna_editflow/docs/paper_table2_t1_t7_main_results.{json,md}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外部 baseline readiness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mrna_editflow/docs/paper_table3_external_baseline_readiness.{json,md}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T5 10-seed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mrna_editflow/benchmark/multiseed_t5_public_head1024_mo_pareto_top64/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T6 10-seed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mrna_editflow/benchmark/multiseed_t6_public_head1024_stagea10k_len_neg30_merged_20260715_041616_top64/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T7 motif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mrna_editflow/benchmark/t7_motif_edit_benchmark_head256/summary.json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2261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Downstream status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mrna_editflow/benchmark/downstream_predictor_protocol/status.json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432270"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本 PPT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>
                          <a:solidFill>
                            <a:srgbClr val="212529"/>
                          </a:solidFill>
                        </a:defRPr>
                      </a:pPr>
                      <a:r>
                        <a:t>mrna_editflow/reports/mrna_editflow_leadership_briefing_20260715.pptx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20116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1396BE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38912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52D55"/>
                </a:solidFill>
              </a:defRPr>
            </a:pPr>
            <a:r>
              <a:t>24. 结论：当前能讲什么，不能讲什么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41832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07080"/>
                </a:solidFill>
              </a:defRPr>
            </a:pPr>
            <a:r>
              <a:t>对领导汇报建议用“能力已闭环、SOTA 仍需补证据”的口径。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1338560" cy="2286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473952"/>
            <a:ext cx="11247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607080"/>
                </a:solidFill>
              </a:defRPr>
            </a:pPr>
            <a:r>
              <a:t>mRNA-EditFlow | leadership briefing | 2026-07-15 |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508760"/>
            <a:ext cx="5212080" cy="182880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508760"/>
            <a:ext cx="73152" cy="1828800"/>
          </a:xfrm>
          <a:prstGeom prst="rect">
            <a:avLst/>
          </a:prstGeom>
          <a:solidFill>
            <a:srgbClr val="1A8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" y="161848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2D55"/>
                </a:solidFill>
              </a:defRPr>
            </a:pPr>
            <a:r>
              <a:t>可以明确汇报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" y="2011680"/>
            <a:ext cx="495604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全长 constrained edit-flow 技术路线跑通；T4/T5/T6/T7 proxy benchmarks 产出；硬约束保持优秀；多目标 ranker 有稳定 proxy gain；数据治理框架完整。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508760"/>
            <a:ext cx="5212080" cy="182880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09360" y="1508760"/>
            <a:ext cx="73152" cy="1828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5664" y="161848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2D55"/>
                </a:solidFill>
              </a:defRPr>
            </a:pPr>
            <a:r>
              <a:t>不能过度声明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55664" y="2011680"/>
            <a:ext cx="4956048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不能说真实 TE/stability 已提升；不能说已超过 LinearDesign/codonGPT/UTailoR；不能把 synthetic smoke 或 proxy oracle 当 wet-lab 结果。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212080" cy="141732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3794760"/>
            <a:ext cx="73152" cy="1417320"/>
          </a:xfrm>
          <a:prstGeom prst="rect">
            <a:avLst/>
          </a:prstGeom>
          <a:solidFill>
            <a:srgbClr val="2463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7824" y="390448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2D55"/>
                </a:solidFill>
              </a:defRPr>
            </a:pPr>
            <a:r>
              <a:t>下一步主线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" y="4297680"/>
            <a:ext cx="4956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补真实下游数据 + 外部 SOTA executable + 10-seed significance，再推进模型/数据 scale-up。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3794760"/>
            <a:ext cx="5212080" cy="1417320"/>
          </a:xfrm>
          <a:prstGeom prst="roundRect">
            <a:avLst/>
          </a:prstGeom>
          <a:solidFill>
            <a:srgbClr val="FAFCFF"/>
          </a:solidFill>
          <a:ln>
            <a:solidFill>
              <a:srgbClr val="DCE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09360" y="3794760"/>
            <a:ext cx="73152" cy="1417320"/>
          </a:xfrm>
          <a:prstGeom prst="rect">
            <a:avLst/>
          </a:prstGeom>
          <a:solidFill>
            <a:srgbClr val="139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5664" y="3904488"/>
            <a:ext cx="4983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52D55"/>
                </a:solidFill>
              </a:defRPr>
            </a:pPr>
            <a:r>
              <a:t>战略价值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55664" y="4297680"/>
            <a:ext cx="4956048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>
                <a:solidFill>
                  <a:srgbClr val="212529"/>
                </a:solidFill>
              </a:defRPr>
            </a:pPr>
            <a:r>
              <a:t>若补齐真实下游证据，项目有机会形成“全长 mRNA constrained edit generation”差异化论文主线。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